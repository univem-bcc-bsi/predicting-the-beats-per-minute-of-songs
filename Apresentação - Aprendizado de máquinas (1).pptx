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9E_C8863E15.xml" ContentType="application/vnd.ms-powerpoint.comments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36"/>
  </p:notesMasterIdLst>
  <p:handoutMasterIdLst>
    <p:handoutMasterId r:id="rId37"/>
  </p:handoutMasterIdLst>
  <p:sldIdLst>
    <p:sldId id="410" r:id="rId5"/>
    <p:sldId id="383" r:id="rId6"/>
    <p:sldId id="409" r:id="rId7"/>
    <p:sldId id="440" r:id="rId8"/>
    <p:sldId id="442" r:id="rId9"/>
    <p:sldId id="443" r:id="rId10"/>
    <p:sldId id="412" r:id="rId11"/>
    <p:sldId id="413" r:id="rId12"/>
    <p:sldId id="414" r:id="rId13"/>
    <p:sldId id="415" r:id="rId14"/>
    <p:sldId id="416" r:id="rId15"/>
    <p:sldId id="432" r:id="rId16"/>
    <p:sldId id="417" r:id="rId17"/>
    <p:sldId id="433" r:id="rId18"/>
    <p:sldId id="418" r:id="rId19"/>
    <p:sldId id="434" r:id="rId20"/>
    <p:sldId id="419" r:id="rId21"/>
    <p:sldId id="435" r:id="rId22"/>
    <p:sldId id="421" r:id="rId23"/>
    <p:sldId id="422" r:id="rId24"/>
    <p:sldId id="423" r:id="rId25"/>
    <p:sldId id="424" r:id="rId26"/>
    <p:sldId id="425" r:id="rId27"/>
    <p:sldId id="426" r:id="rId28"/>
    <p:sldId id="427" r:id="rId29"/>
    <p:sldId id="428" r:id="rId30"/>
    <p:sldId id="429" r:id="rId31"/>
    <p:sldId id="436" r:id="rId32"/>
    <p:sldId id="430" r:id="rId33"/>
    <p:sldId id="431" r:id="rId34"/>
    <p:sldId id="441" r:id="rId3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976DBC39-FDB2-2850-D1CA-BF49EC28D5CB}" name="PEDRO" initials="P" userId="PEDRO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9E196-9889-610E-7AA6-AF246BEFF872}" v="272" dt="2025-11-12T23:13:29.903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74" d="100"/>
          <a:sy n="74" d="100"/>
        </p:scale>
        <p:origin x="1042" y="28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/Relationships>
</file>

<file path=ppt/comments/modernComment_19E_C8863E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96E981-3C9C-4100-95DD-A1076DBB6AE7}" authorId="{976DBC39-FDB2-2850-D1CA-BF49EC28D5CB}" created="2025-11-11T20:33:13.184">
    <pc:sldMkLst xmlns:pc="http://schemas.microsoft.com/office/powerpoint/2013/main/command">
      <pc:docMk/>
      <pc:sldMk cId="3364240917" sldId="414"/>
    </pc:sldMkLst>
    <p188:txBody>
      <a:bodyPr/>
      <a:lstStyle/>
      <a:p>
        <a:r>
          <a:rPr lang="pt-BR"/>
          <a:t>Sim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2F41AB2A-FCB0-449C-94A2-E3FFDC5F192E}" type="datetime1">
              <a:rPr lang="pt-BR" smtClean="0"/>
              <a:t>25/11/2025</a:t>
            </a:fld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2C230DF-5933-439D-898F-38E9AC9BA688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8" name="Espaço Reservado para Cabeçalh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6F315709-B4D1-47A8-A516-AEABF47ED22D}" type="datetime1">
              <a:rPr lang="pt-BR" smtClean="0"/>
              <a:pPr/>
              <a:t>25/11/2025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A89C7E07-3C67-C64C-8DA0-0404F63039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1A99C-4C5C-7E20-1723-0B68C681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25DD4E8F-AF02-9F79-ABA7-C7F838D43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E051C96-C9AC-6BCE-32F0-CC6DC7E92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DA8DEA0-C594-C24C-4F57-B091FE3CB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6854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AD77A-6F39-DC8F-194C-4271E3424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66F0E50-0A97-038D-CCB2-0D30C601B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927AE4F7-ACE7-8261-3498-DBAF0B0FE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BB9A0D6-726A-E0DA-A1B7-6F3578A22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491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58AE0-1E46-CD64-D7AA-BC586598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2C0040B1-9256-781D-3D9F-147EE1E20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6E225126-2FCC-4C27-80DA-8170A8794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C18F8D4-B799-14F3-413A-DC5CAF1E0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659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D3E0E-0C56-06A2-34F5-D34D3299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7E7B1F3-3647-CB88-0FCC-EAD230B6D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A76A39D-434D-EC35-A62B-7D3D870D1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875C763-FB30-32ED-2625-4C377E5F7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0198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3BF0-137D-3DEF-500E-5AF3BBC0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2401D9D9-BF4E-6DB9-245C-88DCF827D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2C74F4F-B1A8-C66B-97E4-D6E527E50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ED2C1A6-F8BB-80AE-7C5D-345DBF27D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31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030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" name="Forma Liv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 spc="50" baseline="0"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pt-B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3" name="Espaço Reservado para o Número do Slid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42" name="Espaço Reservado para Dat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v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pt-BR" sz="2000"/>
            </a:lvl1pPr>
            <a:lvl2pPr indent="-283464">
              <a:spcBef>
                <a:spcPts val="18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v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9436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4864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8" name="Forma Liv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9" name="Forma Liv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pt-B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pt-B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pt-B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pt-B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endParaRPr lang="pt-BR" dirty="0"/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4864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imagem do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indent="-283464">
              <a:spcBef>
                <a:spcPts val="18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tabela do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v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5" name="Forma Liv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7" name="Forma Liv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457200" indent="0">
              <a:spcBef>
                <a:spcPts val="1800"/>
              </a:spcBef>
              <a:buNone/>
              <a:defRPr lang="pt-BR" sz="2000"/>
            </a:lvl2pPr>
            <a:lvl3pPr marL="914400" indent="0">
              <a:spcBef>
                <a:spcPts val="1800"/>
              </a:spcBef>
              <a:buNone/>
              <a:defRPr lang="pt-BR" sz="2000"/>
            </a:lvl3pPr>
            <a:lvl4pPr marL="1371600" indent="0">
              <a:spcBef>
                <a:spcPts val="1800"/>
              </a:spcBef>
              <a:buNone/>
              <a:defRPr lang="pt-BR" sz="2000"/>
            </a:lvl4pPr>
            <a:lvl5pPr marL="1828800" indent="0">
              <a:spcBef>
                <a:spcPts val="1800"/>
              </a:spcBef>
              <a:buNone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pt-BR" sz="2000"/>
            </a:lvl1pPr>
            <a:lvl2pPr>
              <a:spcBef>
                <a:spcPts val="6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v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pt-BR" sz="2000"/>
            </a:lvl1pPr>
            <a:lvl2pPr>
              <a:spcBef>
                <a:spcPts val="6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 dirty="0"/>
              <a:t>Clique para adicionar conteúdo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pt-BR" sz="2000"/>
            </a:lvl1pPr>
            <a:lvl2pPr>
              <a:spcBef>
                <a:spcPts val="18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9" name="Espaço Reservado para Tabe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pt-BR"/>
            </a:lvl1pPr>
          </a:lstStyle>
          <a:p>
            <a:pPr rtl="0"/>
            <a:r>
              <a:rPr lang="pt-BR"/>
              <a:t>Clique no ícone para adicionar tabela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0" name="Espaço Reservado para Dat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pt-B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pt-BR" dirty="0">
              <a:latin typeface="+mn-lt"/>
            </a:endParaRPr>
          </a:p>
        </p:txBody>
      </p:sp>
      <p:sp>
        <p:nvSpPr>
          <p:cNvPr id="32" name="Espaço Reservado para o Número do Slid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pt-B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pt-B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pt-BR">
          <a:solidFill>
            <a:schemeClr val="tx2"/>
          </a:solidFill>
        </a:defRPr>
      </a:lvl2pPr>
      <a:lvl3pPr eaLnBrk="1" hangingPunct="1">
        <a:defRPr lang="pt-BR">
          <a:solidFill>
            <a:schemeClr val="tx2"/>
          </a:solidFill>
        </a:defRPr>
      </a:lvl3pPr>
      <a:lvl4pPr eaLnBrk="1" hangingPunct="1">
        <a:defRPr lang="pt-BR">
          <a:solidFill>
            <a:schemeClr val="tx2"/>
          </a:solidFill>
        </a:defRPr>
      </a:lvl4pPr>
      <a:lvl5pPr eaLnBrk="1" hangingPunct="1">
        <a:defRPr lang="pt-BR">
          <a:solidFill>
            <a:schemeClr val="tx2"/>
          </a:solidFill>
        </a:defRPr>
      </a:lvl5pPr>
      <a:lvl6pPr eaLnBrk="1" hangingPunct="1">
        <a:defRPr lang="pt-BR">
          <a:solidFill>
            <a:schemeClr val="tx2"/>
          </a:solidFill>
        </a:defRPr>
      </a:lvl6pPr>
      <a:lvl7pPr eaLnBrk="1" hangingPunct="1">
        <a:defRPr lang="pt-BR">
          <a:solidFill>
            <a:schemeClr val="tx2"/>
          </a:solidFill>
        </a:defRPr>
      </a:lvl7pPr>
      <a:lvl8pPr eaLnBrk="1" hangingPunct="1">
        <a:defRPr lang="pt-BR">
          <a:solidFill>
            <a:schemeClr val="tx2"/>
          </a:solidFill>
        </a:defRPr>
      </a:lvl8pPr>
      <a:lvl9pPr eaLnBrk="1" hangingPunct="1">
        <a:defRPr lang="pt-B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9E_C8863E15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36" y="905069"/>
            <a:ext cx="8980368" cy="830957"/>
          </a:xfrm>
        </p:spPr>
        <p:txBody>
          <a:bodyPr rtlCol="0"/>
          <a:lstStyle>
            <a:defPPr>
              <a:defRPr lang="pt-BR"/>
            </a:defPPr>
          </a:lstStyle>
          <a:p>
            <a:pPr>
              <a:lnSpc>
                <a:spcPct val="100000"/>
              </a:lnSpc>
            </a:pPr>
            <a:r>
              <a:rPr lang="pt-BR" sz="3200" dirty="0">
                <a:latin typeface="Comic Sans MS" panose="030F0702030302020204" pitchFamily="66" charset="0"/>
                <a:cs typeface="Times New Roman" panose="02020603050405020304" pitchFamily="18" charset="0"/>
              </a:rPr>
              <a:t>Apresentação:</a:t>
            </a:r>
            <a:br>
              <a:rPr lang="pt-BR" sz="3200" dirty="0">
                <a:latin typeface="Comic Sans MS" panose="030F0702030302020204" pitchFamily="66" charset="0"/>
                <a:cs typeface="Times New Roman" panose="02020603050405020304" pitchFamily="18" charset="0"/>
              </a:rPr>
            </a:br>
            <a:r>
              <a:rPr lang="pt-BR" sz="3200" b="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Predicting</a:t>
            </a:r>
            <a:r>
              <a:rPr lang="pt-BR" sz="32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pt-BR" sz="3200" b="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the</a:t>
            </a:r>
            <a:r>
              <a:rPr lang="pt-BR" sz="32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 Beats per Minutes </a:t>
            </a:r>
            <a:r>
              <a:rPr lang="pt-BR" sz="3200" b="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of</a:t>
            </a:r>
            <a:r>
              <a:rPr lang="pt-BR" sz="32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 Songs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A9A1A4-54A5-A7DA-749F-2D81342DD42C}"/>
              </a:ext>
            </a:extLst>
          </p:cNvPr>
          <p:cNvSpPr txBox="1"/>
          <p:nvPr/>
        </p:nvSpPr>
        <p:spPr>
          <a:xfrm>
            <a:off x="3906982" y="2228671"/>
            <a:ext cx="8052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Alexandre Zanin Guidorzi Filho - 623768</a:t>
            </a:r>
          </a:p>
          <a:p>
            <a:r>
              <a:rPr lang="pt-BR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Marcela Viana Sulpício - 624586</a:t>
            </a:r>
          </a:p>
          <a:p>
            <a:r>
              <a:rPr lang="pt-BR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Pedro Cordeiro Chies - 626791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D96D123-25BB-4BA7-4BDC-E3CCDE288C23}"/>
              </a:ext>
            </a:extLst>
          </p:cNvPr>
          <p:cNvSpPr txBox="1"/>
          <p:nvPr/>
        </p:nvSpPr>
        <p:spPr>
          <a:xfrm>
            <a:off x="6816435" y="6396335"/>
            <a:ext cx="5593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Professor Luís Hilário </a:t>
            </a:r>
            <a:r>
              <a:rPr lang="pt-BR" sz="2400" dirty="0" err="1">
                <a:solidFill>
                  <a:schemeClr val="bg1"/>
                </a:solidFill>
                <a:latin typeface="Comic Sans MS" panose="030F0702030302020204" pitchFamily="66" charset="0"/>
              </a:rPr>
              <a:t>Tobler</a:t>
            </a:r>
            <a:r>
              <a:rPr lang="pt-BR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 Garcia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371600"/>
            <a:ext cx="2491740" cy="41147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3600" dirty="0">
                <a:latin typeface="Comic Sans MS" panose="030F0702030302020204" pitchFamily="66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254827"/>
            <a:ext cx="4133291" cy="2909456"/>
          </a:xfrm>
        </p:spPr>
        <p:txBody>
          <a:bodyPr tIns="457200" rtlCol="0">
            <a:noAutofit/>
          </a:bodyPr>
          <a:lstStyle>
            <a:defPPr>
              <a:defRPr lang="pt-BR"/>
            </a:defPPr>
          </a:lstStyle>
          <a:p>
            <a:pPr marL="0" indent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b="0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1. Desafio</a:t>
            </a:r>
          </a:p>
          <a:p>
            <a:pPr marL="0" indent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b="0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2. Base de Dados</a:t>
            </a:r>
          </a:p>
          <a:p>
            <a:pPr marL="0" indent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b="0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3. Explicação do código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0" descr="Imagem aproximada de uma planta">
            <a:extLst>
              <a:ext uri="{FF2B5EF4-FFF2-40B4-BE49-F238E27FC236}">
                <a16:creationId xmlns:a16="http://schemas.microsoft.com/office/drawing/2014/main" id="{8DB431A1-9806-9CFE-0E5F-1A5611C2A6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1" y="-22225"/>
            <a:ext cx="12192000" cy="6880225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9" y="2174033"/>
            <a:ext cx="4102331" cy="46868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4400" dirty="0">
                <a:latin typeface="Comic Sans MS" panose="030F0702030302020204" pitchFamily="66" charset="0"/>
                <a:cs typeface="Times New Roman" panose="02020603050405020304" pitchFamily="18" charset="0"/>
              </a:rPr>
              <a:t>1.Desafio</a:t>
            </a:r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C75DD-A91C-58AA-202D-53C37115F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4977716-1466-30DE-1C7C-0306D77CFC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24899" y="2168852"/>
            <a:ext cx="8890801" cy="3587712"/>
          </a:xfrm>
        </p:spPr>
        <p:txBody>
          <a:bodyPr vert="horz" lIns="0" tIns="228600" rIns="0" bIns="0" rtlCol="0" anchor="t">
            <a:normAutofit fontScale="92500" lnSpcReduction="20000"/>
          </a:bodyPr>
          <a:lstStyle>
            <a:defPPr>
              <a:defRPr lang="pt-BR"/>
            </a:def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latin typeface="Comic Sans MS" panose="030F0702030302020204" pitchFamily="66" charset="0"/>
                <a:cs typeface="Times New Roman" panose="02020603050405020304" pitchFamily="18" charset="0"/>
              </a:rPr>
              <a:t>O desafio consiste em prever a batidas por minutos (BPM) de uma música a partir do treinamento de uma base de dados. Ela utiliza dados como o ritmo, energia e duração de uma música para fazer a predição.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latin typeface="Comic Sans MS" panose="030F0702030302020204" pitchFamily="66" charset="0"/>
                <a:cs typeface="Times New Roman" panose="02020603050405020304" pitchFamily="18" charset="0"/>
              </a:rPr>
              <a:t>O algoritmo usado pelo programa é o </a:t>
            </a:r>
            <a:r>
              <a:rPr lang="pt-BR" sz="240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LightGBM</a:t>
            </a:r>
            <a:r>
              <a:rPr lang="pt-BR" sz="2400" dirty="0">
                <a:latin typeface="Comic Sans MS" panose="030F0702030302020204" pitchFamily="66" charset="0"/>
                <a:cs typeface="Times New Roman" panose="02020603050405020304" pitchFamily="18" charset="0"/>
              </a:rPr>
              <a:t> (</a:t>
            </a:r>
            <a:r>
              <a:rPr lang="pt-BR" sz="240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Gradient</a:t>
            </a:r>
            <a:r>
              <a:rPr lang="pt-BR" sz="2400" dirty="0"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Boost</a:t>
            </a:r>
            <a:r>
              <a:rPr lang="pt-BR" sz="2400" dirty="0">
                <a:latin typeface="Comic Sans MS" panose="030F0702030302020204" pitchFamily="66" charset="0"/>
                <a:cs typeface="Times New Roman" panose="02020603050405020304" pitchFamily="18" charset="0"/>
              </a:rPr>
              <a:t> Machine), um modelo de regressão que implementa uma árvore de decisão baseada em histogramas.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002D351-F895-D311-D5B1-4DFB4D3FD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vre 19">
              <a:extLst>
                <a:ext uri="{FF2B5EF4-FFF2-40B4-BE49-F238E27FC236}">
                  <a16:creationId xmlns:a16="http://schemas.microsoft.com/office/drawing/2014/main" id="{507A9672-BE2F-479F-D541-160CA424D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" name="Forma Livre 20">
              <a:extLst>
                <a:ext uri="{FF2B5EF4-FFF2-40B4-BE49-F238E27FC236}">
                  <a16:creationId xmlns:a16="http://schemas.microsoft.com/office/drawing/2014/main" id="{F835B366-0D3D-4368-3FC1-CC830E02E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E9F443D0-5B08-62B7-BF0F-143FF596E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205223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5E2D0-F639-7DE4-E890-F9B0E28B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0" descr="Imagem aproximada de uma planta">
            <a:extLst>
              <a:ext uri="{FF2B5EF4-FFF2-40B4-BE49-F238E27FC236}">
                <a16:creationId xmlns:a16="http://schemas.microsoft.com/office/drawing/2014/main" id="{8B14EB59-C610-1A49-BFFB-C5D02473FD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1" y="-22225"/>
            <a:ext cx="12192000" cy="6880225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8DCF51A-36CA-D501-2EBA-EAB56047A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9" y="2174033"/>
            <a:ext cx="4933605" cy="46868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4400" dirty="0">
                <a:latin typeface="Comic Sans MS" panose="030F0702030302020204" pitchFamily="66" charset="0"/>
                <a:cs typeface="Times New Roman" panose="02020603050405020304" pitchFamily="18" charset="0"/>
              </a:rPr>
              <a:t>2.Base de Dados</a:t>
            </a:r>
          </a:p>
        </p:txBody>
      </p:sp>
    </p:spTree>
    <p:extLst>
      <p:ext uri="{BB962C8B-B14F-4D97-AF65-F5344CB8AC3E}">
        <p14:creationId xmlns:p14="http://schemas.microsoft.com/office/powerpoint/2010/main" val="733243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990B6-84F2-FDD1-903A-7F6086F14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AC704BF-11B0-920E-1491-811E521CE0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24899" y="2168852"/>
            <a:ext cx="8890801" cy="3587712"/>
          </a:xfrm>
        </p:spPr>
        <p:txBody>
          <a:bodyPr vert="horz" lIns="0" tIns="228600" rIns="0" bIns="0" rtlCol="0" anchor="t">
            <a:normAutofit/>
          </a:bodyPr>
          <a:lstStyle>
            <a:defPPr>
              <a:defRPr lang="pt-BR"/>
            </a:def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latin typeface="Comic Sans MS" panose="030F0702030302020204" pitchFamily="66" charset="0"/>
                <a:cs typeface="Times New Roman" panose="02020603050405020304" pitchFamily="18" charset="0"/>
              </a:rPr>
              <a:t>O desafio do </a:t>
            </a:r>
            <a:r>
              <a:rPr lang="pt-BR" sz="240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Kaggle</a:t>
            </a:r>
            <a:r>
              <a:rPr lang="pt-BR" sz="2400" dirty="0">
                <a:latin typeface="Comic Sans MS" panose="030F0702030302020204" pitchFamily="66" charset="0"/>
                <a:cs typeface="Times New Roman" panose="02020603050405020304" pitchFamily="18" charset="0"/>
              </a:rPr>
              <a:t> disponibiliza duas bases de dados para utilizar. Uma voltada para treinamento e outra para teste.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01DB78B-CE16-2102-6419-55BFA8DD1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vre 19">
              <a:extLst>
                <a:ext uri="{FF2B5EF4-FFF2-40B4-BE49-F238E27FC236}">
                  <a16:creationId xmlns:a16="http://schemas.microsoft.com/office/drawing/2014/main" id="{48C20091-72BD-3109-F700-9AFCF0390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" name="Forma Livre 20">
              <a:extLst>
                <a:ext uri="{FF2B5EF4-FFF2-40B4-BE49-F238E27FC236}">
                  <a16:creationId xmlns:a16="http://schemas.microsoft.com/office/drawing/2014/main" id="{25B6E888-46F8-31AC-4738-2D94E2587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EE81A53C-6B4B-3140-6899-4F75FEEA2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140128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769B-1EB5-DE72-E1A1-274A84EF0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0" descr="Imagem aproximada de uma planta">
            <a:extLst>
              <a:ext uri="{FF2B5EF4-FFF2-40B4-BE49-F238E27FC236}">
                <a16:creationId xmlns:a16="http://schemas.microsoft.com/office/drawing/2014/main" id="{47D250E2-351C-5605-F331-B193E2D901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0" y="0"/>
            <a:ext cx="12192000" cy="6880225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F08140C4-B349-A302-A788-78A8362B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282" y="1454727"/>
            <a:ext cx="7793182" cy="104251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4400" dirty="0">
                <a:latin typeface="Comic Sans MS" panose="030F0702030302020204" pitchFamily="66" charset="0"/>
                <a:cs typeface="Times New Roman" panose="02020603050405020304" pitchFamily="18" charset="0"/>
              </a:rPr>
              <a:t>3. Explicação do código</a:t>
            </a:r>
          </a:p>
        </p:txBody>
      </p:sp>
    </p:spTree>
    <p:extLst>
      <p:ext uri="{BB962C8B-B14F-4D97-AF65-F5344CB8AC3E}">
        <p14:creationId xmlns:p14="http://schemas.microsoft.com/office/powerpoint/2010/main" val="3807398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41134-83EA-018B-3A68-ACB6FDD7E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032" y="480222"/>
            <a:ext cx="11653935" cy="1304229"/>
          </a:xfrm>
        </p:spPr>
        <p:txBody>
          <a:bodyPr/>
          <a:lstStyle/>
          <a:p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1 : </a:t>
            </a:r>
            <a:b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</a:b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Realização da conexão entre o Google Drive e o ambiente de execução do Google Colab, por meio da importação da biblioteca drive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F9EFB2C-0A9E-7206-96EE-A0430ADA7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05" y="2788746"/>
            <a:ext cx="3831820" cy="640254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0B1D57C7-69B5-B4AA-5BCB-DF462F1B2C64}"/>
              </a:ext>
            </a:extLst>
          </p:cNvPr>
          <p:cNvSpPr txBox="1"/>
          <p:nvPr/>
        </p:nvSpPr>
        <p:spPr>
          <a:xfrm>
            <a:off x="441105" y="2216659"/>
            <a:ext cx="1249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3EB44A-A68B-B600-8E44-164BA2385CB3}"/>
              </a:ext>
            </a:extLst>
          </p:cNvPr>
          <p:cNvSpPr txBox="1"/>
          <p:nvPr/>
        </p:nvSpPr>
        <p:spPr>
          <a:xfrm>
            <a:off x="441105" y="3532089"/>
            <a:ext cx="1478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Resultado: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E7821BE-F4EB-98F8-7F1B-28A735C75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26" y="4184023"/>
            <a:ext cx="11420341" cy="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9298F-C380-E26C-EE7F-93DF79FF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A1A03-8322-151A-175B-28F40C983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30" y="755991"/>
            <a:ext cx="11411337" cy="1082875"/>
          </a:xfrm>
        </p:spPr>
        <p:txBody>
          <a:bodyPr/>
          <a:lstStyle/>
          <a:p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2 : </a:t>
            </a:r>
            <a:b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</a:b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Importação das bibliotecas numpy (cálculos numéricos e matrizes), pandas (análise e manipulação de dados) e os (interação com o sistema operacional)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6187E86-AB94-C2CE-A43E-7C2EDD4FF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24" y="3081034"/>
            <a:ext cx="2881016" cy="100259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DCC22B0-76C3-035B-54E9-0CDBC84395F5}"/>
              </a:ext>
            </a:extLst>
          </p:cNvPr>
          <p:cNvSpPr txBox="1"/>
          <p:nvPr/>
        </p:nvSpPr>
        <p:spPr>
          <a:xfrm>
            <a:off x="796624" y="2607793"/>
            <a:ext cx="1260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Código:</a:t>
            </a:r>
          </a:p>
        </p:txBody>
      </p:sp>
    </p:spTree>
    <p:extLst>
      <p:ext uri="{BB962C8B-B14F-4D97-AF65-F5344CB8AC3E}">
        <p14:creationId xmlns:p14="http://schemas.microsoft.com/office/powerpoint/2010/main" val="33642409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14DFD-A5E1-A7CB-7F4D-73F35EBB8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B1A80-4151-2A32-4F49-7169F2FBD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510547"/>
            <a:ext cx="11569959" cy="1082352"/>
          </a:xfrm>
        </p:spPr>
        <p:txBody>
          <a:bodyPr/>
          <a:lstStyle/>
          <a:p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3 : </a:t>
            </a:r>
            <a:b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</a:b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Carregamento e leitura dos arquivos CSV de treino e teste, exibição das dimensões de cada conjunto e visualização dos nomes das colunas do arquivo de treino.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9103-F1A6-720B-6F53-79D706BE62BD}"/>
              </a:ext>
            </a:extLst>
          </p:cNvPr>
          <p:cNvSpPr txBox="1"/>
          <p:nvPr/>
        </p:nvSpPr>
        <p:spPr>
          <a:xfrm>
            <a:off x="613063" y="1870122"/>
            <a:ext cx="1870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0542381-629C-32C6-B8DE-334EB6C03DA7}"/>
              </a:ext>
            </a:extLst>
          </p:cNvPr>
          <p:cNvSpPr txBox="1"/>
          <p:nvPr/>
        </p:nvSpPr>
        <p:spPr>
          <a:xfrm>
            <a:off x="687956" y="4129406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Resultado: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BE7B76F-6CFE-D0E6-4DDE-938D3D93C947}"/>
              </a:ext>
            </a:extLst>
          </p:cNvPr>
          <p:cNvGrpSpPr/>
          <p:nvPr/>
        </p:nvGrpSpPr>
        <p:grpSpPr>
          <a:xfrm>
            <a:off x="936405" y="4801994"/>
            <a:ext cx="10389686" cy="1255906"/>
            <a:chOff x="1827202" y="4275545"/>
            <a:chExt cx="9983755" cy="1045314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C561C2F5-DC79-C55D-9600-074B5D110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7202" y="4275545"/>
              <a:ext cx="9983755" cy="763350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2C981457-4AF9-F643-E64C-4AA8C44CA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27202" y="5038895"/>
              <a:ext cx="1356478" cy="281964"/>
            </a:xfrm>
            <a:prstGeom prst="rect">
              <a:avLst/>
            </a:prstGeom>
          </p:spPr>
        </p:pic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D34221BD-F2B4-D9C4-F87E-02DB4E3A6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198" y="2356249"/>
            <a:ext cx="7741346" cy="177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569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86AF1-A894-0987-896F-925396B4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B3D8C-AC03-DE85-837A-1F048069C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29" y="567372"/>
            <a:ext cx="11364686" cy="1088933"/>
          </a:xfrm>
        </p:spPr>
        <p:txBody>
          <a:bodyPr/>
          <a:lstStyle/>
          <a:p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4 : </a:t>
            </a:r>
            <a:b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</a:b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Identificação da presença de valores nulos nas colunas dos arquivos de treino e teste e exibição dos tipos de dados de cada variável no conjunto de treino.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8FFAAD-C39B-EE93-00DF-6B7581831E19}"/>
              </a:ext>
            </a:extLst>
          </p:cNvPr>
          <p:cNvSpPr txBox="1"/>
          <p:nvPr/>
        </p:nvSpPr>
        <p:spPr>
          <a:xfrm>
            <a:off x="330529" y="1930417"/>
            <a:ext cx="1263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8ED16A5-A158-6456-398A-A4ECB6E1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13" y="2468767"/>
            <a:ext cx="4181259" cy="24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9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72C9E-6DB7-55EF-0CAD-8202E5E54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DA19F30-52AC-FE04-67FB-A178C9676956}"/>
              </a:ext>
            </a:extLst>
          </p:cNvPr>
          <p:cNvSpPr txBox="1"/>
          <p:nvPr/>
        </p:nvSpPr>
        <p:spPr>
          <a:xfrm>
            <a:off x="770596" y="1072218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Resultado: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FCB99D9D-8E7F-3360-DD25-B19E08A688B3}"/>
              </a:ext>
            </a:extLst>
          </p:cNvPr>
          <p:cNvGrpSpPr/>
          <p:nvPr/>
        </p:nvGrpSpPr>
        <p:grpSpPr>
          <a:xfrm>
            <a:off x="958708" y="1853383"/>
            <a:ext cx="9712756" cy="3151233"/>
            <a:chOff x="1852326" y="1605795"/>
            <a:chExt cx="8678027" cy="2187130"/>
          </a:xfrm>
        </p:grpSpPr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8524FC3E-1751-F527-8BA7-EB7576A11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2326" y="1605795"/>
              <a:ext cx="2667231" cy="2187130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8CB0F151-94F6-5C12-C192-06EBEF6CC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9557" y="1605795"/>
              <a:ext cx="2682472" cy="2187130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0878BA4-F2B7-8A3C-8ACC-CB51D943C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0641" y="1613416"/>
              <a:ext cx="3139712" cy="21718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2360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072C-0A99-FA29-23D4-2DDE859A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FC1A5-BEC1-D2A7-FE17-0A9C0AAA8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62" y="908081"/>
            <a:ext cx="11228439" cy="699796"/>
          </a:xfrm>
        </p:spPr>
        <p:txBody>
          <a:bodyPr/>
          <a:lstStyle/>
          <a:p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5 : </a:t>
            </a:r>
            <a:b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</a:b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Realização da análise estatística descritiva dos conjuntos de treino e teste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1E689B3-934D-EFCE-72B8-54A98C090E07}"/>
              </a:ext>
            </a:extLst>
          </p:cNvPr>
          <p:cNvSpPr txBox="1"/>
          <p:nvPr/>
        </p:nvSpPr>
        <p:spPr>
          <a:xfrm>
            <a:off x="754975" y="1993020"/>
            <a:ext cx="1263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AB067B8-6A5C-BE80-5DE7-C99F77324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296" y="2682175"/>
            <a:ext cx="4564140" cy="197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025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7AE5F-E40A-075C-0385-6F37318E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701E4BB-CA0B-777F-FA72-2EDA95721E79}"/>
              </a:ext>
            </a:extLst>
          </p:cNvPr>
          <p:cNvSpPr txBox="1"/>
          <p:nvPr/>
        </p:nvSpPr>
        <p:spPr>
          <a:xfrm>
            <a:off x="409274" y="710997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Resultado: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BF0CD118-84B3-3D05-D065-2EBFDD6D8D5A}"/>
              </a:ext>
            </a:extLst>
          </p:cNvPr>
          <p:cNvGrpSpPr/>
          <p:nvPr/>
        </p:nvGrpSpPr>
        <p:grpSpPr>
          <a:xfrm>
            <a:off x="434969" y="1340100"/>
            <a:ext cx="11322061" cy="5091873"/>
            <a:chOff x="1958936" y="1326742"/>
            <a:chExt cx="10058894" cy="4430248"/>
          </a:xfrm>
          <a:solidFill>
            <a:schemeClr val="tx1"/>
          </a:solidFill>
        </p:grpSpPr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46F52AF7-A3F1-EDD5-4F5A-4AA815966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8936" y="1369751"/>
              <a:ext cx="4395211" cy="4387238"/>
            </a:xfrm>
            <a:prstGeom prst="rect">
              <a:avLst/>
            </a:prstGeom>
            <a:grpFill/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49B0326D-287E-8AC5-733F-6EEB9E9D1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0148" y="1326742"/>
              <a:ext cx="5187682" cy="4430248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1657531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AA589-F5AD-7031-4031-D1DAD5D64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3E20F-1479-2302-77D1-BB754C376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28" y="533446"/>
            <a:ext cx="11291944" cy="1119673"/>
          </a:xfrm>
        </p:spPr>
        <p:txBody>
          <a:bodyPr/>
          <a:lstStyle/>
          <a:p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6 : </a:t>
            </a:r>
            <a:b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</a:b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Importação das bibliotecas matplotlib e seaborn para a criação de um histograma para a coluna BeatsForMinute do arquivo de treino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8B9492-D774-D4B0-9E53-AF4CF1FE39EB}"/>
              </a:ext>
            </a:extLst>
          </p:cNvPr>
          <p:cNvSpPr txBox="1"/>
          <p:nvPr/>
        </p:nvSpPr>
        <p:spPr>
          <a:xfrm>
            <a:off x="1039643" y="2537311"/>
            <a:ext cx="1053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</a:t>
            </a: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39AAA3C-CD3B-BF40-B209-D5C581D68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97" y="3192188"/>
            <a:ext cx="5588882" cy="226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861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2F8BC-ADE8-2A22-FB6B-4800488FA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C951AD7-80FF-20E9-D777-CE8A26195A19}"/>
              </a:ext>
            </a:extLst>
          </p:cNvPr>
          <p:cNvSpPr txBox="1"/>
          <p:nvPr/>
        </p:nvSpPr>
        <p:spPr>
          <a:xfrm>
            <a:off x="714752" y="974714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Resultado: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20047F-BE94-2182-BE6E-DF75AAF11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364" y="1601097"/>
            <a:ext cx="8238910" cy="428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01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9E5BB-BA58-5DD0-51D0-2B8367E3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E927F-8658-2436-446A-95B0369E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51" y="178342"/>
            <a:ext cx="11213838" cy="1390261"/>
          </a:xfrm>
        </p:spPr>
        <p:txBody>
          <a:bodyPr/>
          <a:lstStyle/>
          <a:p>
            <a:pPr algn="just"/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7 : </a:t>
            </a: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Criação de novas colunas derivadas das variáveis existentes por meio da função feature_engineering, aplicação da função nos conjuntos de treino e teste, geração de novos DataFrame (train_fe e test_fe) e exibição de suas dimensões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B7F6F6-7040-FC00-B83B-28C0FC205479}"/>
              </a:ext>
            </a:extLst>
          </p:cNvPr>
          <p:cNvSpPr txBox="1"/>
          <p:nvPr/>
        </p:nvSpPr>
        <p:spPr>
          <a:xfrm>
            <a:off x="438540" y="1789015"/>
            <a:ext cx="1263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Código: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B93A5B1-C0C0-9099-E5CD-76FEF38A6DCD}"/>
              </a:ext>
            </a:extLst>
          </p:cNvPr>
          <p:cNvGrpSpPr/>
          <p:nvPr/>
        </p:nvGrpSpPr>
        <p:grpSpPr>
          <a:xfrm>
            <a:off x="1928283" y="2019847"/>
            <a:ext cx="7884375" cy="4473256"/>
            <a:chOff x="1987549" y="2494376"/>
            <a:chExt cx="7370627" cy="363662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0D74B0FC-5BA1-D97B-5571-DADD81FE0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7549" y="2494376"/>
              <a:ext cx="7370627" cy="2469512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E077FFB6-9AF4-8560-D8B5-6CF05819B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5928" y="5079352"/>
              <a:ext cx="7033870" cy="1051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4844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E6850-B45B-DBDE-4A42-FA5E9223C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ABB8859-F1F7-7B7F-BD3D-A1961D2548FF}"/>
              </a:ext>
            </a:extLst>
          </p:cNvPr>
          <p:cNvSpPr txBox="1"/>
          <p:nvPr/>
        </p:nvSpPr>
        <p:spPr>
          <a:xfrm>
            <a:off x="879437" y="850037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Resultado</a:t>
            </a:r>
            <a:r>
              <a:rPr lang="pt-BR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CAEEDAB-F96D-7ADA-F202-F860DBD91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22" y="1686958"/>
            <a:ext cx="7696998" cy="78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258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FCE2-C8E2-6BBC-EBE2-98CEAB18C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B80AF-85FF-DD5E-2486-67680F57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895" y="522806"/>
            <a:ext cx="11252718" cy="1082134"/>
          </a:xfrm>
        </p:spPr>
        <p:txBody>
          <a:bodyPr/>
          <a:lstStyle/>
          <a:p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8 : </a:t>
            </a:r>
            <a:b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</a:b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Comparação do DataFrame original (train) com o transformado (train_fe) para a identificação e quantificação de novas colunas geradas pela função feature </a:t>
            </a:r>
            <a:r>
              <a:rPr lang="pt-BR" sz="2800" b="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engineering</a:t>
            </a: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E5166B-9E8D-3E57-404B-125B8101DC54}"/>
              </a:ext>
            </a:extLst>
          </p:cNvPr>
          <p:cNvSpPr txBox="1"/>
          <p:nvPr/>
        </p:nvSpPr>
        <p:spPr>
          <a:xfrm>
            <a:off x="592300" y="3899307"/>
            <a:ext cx="1478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Resultado: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10C356B-C1EB-73F5-7B51-15E1ED4CA1DE}"/>
              </a:ext>
            </a:extLst>
          </p:cNvPr>
          <p:cNvSpPr txBox="1"/>
          <p:nvPr/>
        </p:nvSpPr>
        <p:spPr>
          <a:xfrm>
            <a:off x="568063" y="20447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7AF472-F9E0-6145-E785-FD5EB445B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81" y="2480527"/>
            <a:ext cx="7874009" cy="1327921"/>
          </a:xfrm>
          <a:prstGeom prst="rect">
            <a:avLst/>
          </a:prstGeom>
        </p:spPr>
      </p:pic>
      <p:grpSp>
        <p:nvGrpSpPr>
          <p:cNvPr id="20" name="Agrupar 19">
            <a:extLst>
              <a:ext uri="{FF2B5EF4-FFF2-40B4-BE49-F238E27FC236}">
                <a16:creationId xmlns:a16="http://schemas.microsoft.com/office/drawing/2014/main" id="{310E81DE-0172-1F5C-7CF9-E300F86325F3}"/>
              </a:ext>
            </a:extLst>
          </p:cNvPr>
          <p:cNvGrpSpPr/>
          <p:nvPr/>
        </p:nvGrpSpPr>
        <p:grpSpPr>
          <a:xfrm>
            <a:off x="467591" y="4545205"/>
            <a:ext cx="10952018" cy="1346440"/>
            <a:chOff x="2268568" y="3867063"/>
            <a:chExt cx="9732144" cy="652105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EF43F5BB-6BB2-04F6-3F04-E95795954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90849" y="3867063"/>
              <a:ext cx="9709863" cy="155907"/>
            </a:xfrm>
            <a:prstGeom prst="rect">
              <a:avLst/>
            </a:prstGeom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DA4FF7D7-098B-B8E9-7497-6FB45240F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8568" y="4093483"/>
              <a:ext cx="9709863" cy="187517"/>
            </a:xfrm>
            <a:prstGeom prst="rect">
              <a:avLst/>
            </a:prstGeom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149A7BE9-6357-5427-561C-B28070F3C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68568" y="4351513"/>
              <a:ext cx="2796782" cy="167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4753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D62A7-F6E6-E05D-C11B-7C18ACDE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EDBF3-0DC9-6CEC-DB2D-CE87CE41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78" y="913486"/>
            <a:ext cx="11533843" cy="1074343"/>
          </a:xfrm>
        </p:spPr>
        <p:txBody>
          <a:bodyPr/>
          <a:lstStyle/>
          <a:p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9 : </a:t>
            </a:r>
            <a:b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</a:b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Importação de várias bibliotecas do módulo sklearn (análise preditiva de dados e modelagem estatísticas) e da biblioteca LightGBM (classificação e regressão baseadas em árvores de decisão)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4A1EE5-1D7C-F7FB-0A46-1E2BABE07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34" y="2907664"/>
            <a:ext cx="8646468" cy="170589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FC68C68-3877-0E7E-168F-B971326715BD}"/>
              </a:ext>
            </a:extLst>
          </p:cNvPr>
          <p:cNvSpPr txBox="1"/>
          <p:nvPr/>
        </p:nvSpPr>
        <p:spPr>
          <a:xfrm>
            <a:off x="329078" y="2354657"/>
            <a:ext cx="1053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</a:t>
            </a: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26816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1FFB5-6D30-285A-D454-A3A0F69A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9EA17-8236-4A94-3D7D-D3F341C58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403080"/>
            <a:ext cx="11569959" cy="1119674"/>
          </a:xfrm>
        </p:spPr>
        <p:txBody>
          <a:bodyPr/>
          <a:lstStyle/>
          <a:p>
            <a:pPr algn="just"/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10 </a:t>
            </a: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: Separação das colunas de entrada e rótulo no conjunto de treino, remoção de colunas desnecessárias no conjunto de teste e exibição das dimensões finais dos conjuntos de treino e teste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D05E26-2B74-7608-22E3-A2FE8B678214}"/>
              </a:ext>
            </a:extLst>
          </p:cNvPr>
          <p:cNvSpPr txBox="1"/>
          <p:nvPr/>
        </p:nvSpPr>
        <p:spPr>
          <a:xfrm>
            <a:off x="652182" y="1532024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</a:t>
            </a:r>
            <a:r>
              <a:rPr lang="pt-B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0D9508-92F4-EDDD-CAF1-F2BBEDD1309D}"/>
              </a:ext>
            </a:extLst>
          </p:cNvPr>
          <p:cNvSpPr txBox="1"/>
          <p:nvPr/>
        </p:nvSpPr>
        <p:spPr>
          <a:xfrm>
            <a:off x="770579" y="4003096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Resultado: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0AD1173-ED01-C98E-8A90-AAC5387F7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550" y="4372428"/>
            <a:ext cx="4922947" cy="57917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30A6E42-A9D6-FF3E-AAA5-909BF9673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811" y="1972971"/>
            <a:ext cx="6995766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00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013B0-9E3B-750A-8CFE-764710E65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39C54-8DF7-6F39-1061-73564A2B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289016"/>
            <a:ext cx="11111808" cy="737116"/>
          </a:xfrm>
        </p:spPr>
        <p:txBody>
          <a:bodyPr/>
          <a:lstStyle/>
          <a:p>
            <a:pPr algn="just"/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11 : </a:t>
            </a: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Seleção das colunas numéricas do conjunto de treino e aplicação da transformação nessas colunas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001CAE-6382-AA09-9773-DA1596FBDC68}"/>
              </a:ext>
            </a:extLst>
          </p:cNvPr>
          <p:cNvSpPr txBox="1"/>
          <p:nvPr/>
        </p:nvSpPr>
        <p:spPr>
          <a:xfrm>
            <a:off x="699494" y="1701541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C0C3F5D-5088-A3BF-CED5-D10E6C1E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23" y="2299473"/>
            <a:ext cx="8029609" cy="211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26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E5E50-063B-84F4-56B2-523FE7E5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35898-7F65-AF45-2939-B6DCC4C79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633" y="251926"/>
            <a:ext cx="11196734" cy="737119"/>
          </a:xfrm>
        </p:spPr>
        <p:txBody>
          <a:bodyPr/>
          <a:lstStyle/>
          <a:p>
            <a:pPr algn="just"/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12</a:t>
            </a: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 : Criação do modelo LightGBM com hiperparâmetros configurados manualmente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6E7ABF2-E788-FFD0-9A99-B5ED4FC3618D}"/>
              </a:ext>
            </a:extLst>
          </p:cNvPr>
          <p:cNvSpPr txBox="1"/>
          <p:nvPr/>
        </p:nvSpPr>
        <p:spPr>
          <a:xfrm>
            <a:off x="615811" y="1700480"/>
            <a:ext cx="1053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</a:t>
            </a: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EDA7F6E-8044-8531-DCE1-CAE19026A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98" y="2339975"/>
            <a:ext cx="4694327" cy="29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70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2792A-66F7-0F8D-AA6F-2B3D3121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0196E-93B6-079E-5F5F-11E2C299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95" y="897475"/>
            <a:ext cx="10851502" cy="1091682"/>
          </a:xfrm>
        </p:spPr>
        <p:txBody>
          <a:bodyPr/>
          <a:lstStyle/>
          <a:p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13</a:t>
            </a: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 : </a:t>
            </a:r>
            <a:b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</a:b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Criação de pipelines (automação do fluxo de pré processamento dos dados e treinamento do modelo) para o processador e o modelo lgb_model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AEC010-6EDE-1F76-A265-7289B7AD8480}"/>
              </a:ext>
            </a:extLst>
          </p:cNvPr>
          <p:cNvSpPr txBox="1"/>
          <p:nvPr/>
        </p:nvSpPr>
        <p:spPr>
          <a:xfrm>
            <a:off x="593130" y="2734932"/>
            <a:ext cx="1053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</a:t>
            </a: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8F6408-8109-2E0B-921D-BC3997EBA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829" y="3208860"/>
            <a:ext cx="4693723" cy="138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44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097AA-BEED-1955-4701-4580173D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90486-9EFD-0EB9-27DE-B21936EB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53" y="223935"/>
            <a:ext cx="10991461" cy="1399593"/>
          </a:xfrm>
        </p:spPr>
        <p:txBody>
          <a:bodyPr/>
          <a:lstStyle/>
          <a:p>
            <a:pPr algn="just"/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14</a:t>
            </a: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 : Avaliação do desempenho do modelo por meio de validação cruzada, realização da validação cruzada, cálculo e exibição da lista de erros obtidos em cada iteração, além da média e  do desvio padrão dos resultados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002D4B-C23F-FC25-B2ED-2E1A5869520D}"/>
              </a:ext>
            </a:extLst>
          </p:cNvPr>
          <p:cNvSpPr txBox="1"/>
          <p:nvPr/>
        </p:nvSpPr>
        <p:spPr>
          <a:xfrm>
            <a:off x="503853" y="1990011"/>
            <a:ext cx="152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Código: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E84795D-75E0-88D5-585C-5CD04481C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75" y="5540454"/>
            <a:ext cx="8173735" cy="92575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D6F278A-22DE-F80D-7CDD-94E40B85F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276" y="2390120"/>
            <a:ext cx="5569341" cy="265090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8C0AD04-FBBD-8B17-9244-C33A22E7D110}"/>
              </a:ext>
            </a:extLst>
          </p:cNvPr>
          <p:cNvSpPr txBox="1"/>
          <p:nvPr/>
        </p:nvSpPr>
        <p:spPr>
          <a:xfrm>
            <a:off x="592913" y="5140344"/>
            <a:ext cx="2181459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Resultado</a:t>
            </a: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20318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5DF5F-0F34-0D20-8DCC-015708913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6BD06-9D74-8832-6232-71DE9EFC1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806" y="660569"/>
            <a:ext cx="10349557" cy="466532"/>
          </a:xfrm>
        </p:spPr>
        <p:txBody>
          <a:bodyPr/>
          <a:lstStyle/>
          <a:p>
            <a:pPr algn="just"/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15</a:t>
            </a: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 : Treinamento do modelo com os dados de treino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36EBE59-41F3-3941-340B-3119B45152BD}"/>
              </a:ext>
            </a:extLst>
          </p:cNvPr>
          <p:cNvSpPr txBox="1"/>
          <p:nvPr/>
        </p:nvSpPr>
        <p:spPr>
          <a:xfrm>
            <a:off x="456988" y="1522327"/>
            <a:ext cx="152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23B05B0-8A80-6A31-0A55-5A54324CC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98" y="2020018"/>
            <a:ext cx="5043903" cy="96635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596F134-F18C-3889-AF55-6F8152151307}"/>
              </a:ext>
            </a:extLst>
          </p:cNvPr>
          <p:cNvSpPr txBox="1"/>
          <p:nvPr/>
        </p:nvSpPr>
        <p:spPr>
          <a:xfrm>
            <a:off x="456987" y="2986374"/>
            <a:ext cx="152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7088130-8BEA-5980-4155-C5BBE1D6F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98" y="3614865"/>
            <a:ext cx="10533539" cy="163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9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83857-FCB3-1DFF-4A2B-6094C6136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0FD2B-0E7C-AD96-EB39-2A1B6ED5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61" y="261257"/>
            <a:ext cx="10692882" cy="1113387"/>
          </a:xfrm>
        </p:spPr>
        <p:txBody>
          <a:bodyPr/>
          <a:lstStyle/>
          <a:p>
            <a:pPr algn="just"/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16</a:t>
            </a: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 : Visualização da relevância das features, ordenação por prioridade e exibição das 15 features mais relevantes por meio de um gráfico de barras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0425FC-863E-5FE2-EC2C-FBBA01FE46E7}"/>
              </a:ext>
            </a:extLst>
          </p:cNvPr>
          <p:cNvSpPr txBox="1"/>
          <p:nvPr/>
        </p:nvSpPr>
        <p:spPr>
          <a:xfrm>
            <a:off x="319998" y="1831843"/>
            <a:ext cx="152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DBFB3C3-37A3-6CAC-C11D-CE08B3035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22" y="2357038"/>
            <a:ext cx="7605311" cy="32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7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34919-04CA-00E3-7847-990066DE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13E9F3A-0E62-65DE-2F4E-FEC8745BF337}"/>
              </a:ext>
            </a:extLst>
          </p:cNvPr>
          <p:cNvSpPr txBox="1"/>
          <p:nvPr/>
        </p:nvSpPr>
        <p:spPr>
          <a:xfrm>
            <a:off x="530699" y="534276"/>
            <a:ext cx="2253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Resultado: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E6085B7-9DE3-7744-213F-E4C0F6D07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74" y="1154703"/>
            <a:ext cx="9817660" cy="54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563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FC456-642A-3BE7-7A56-CD25DFAB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7CB90-26FB-FEB6-8590-FA1A133DD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22" y="335902"/>
            <a:ext cx="10898155" cy="497567"/>
          </a:xfrm>
        </p:spPr>
        <p:txBody>
          <a:bodyPr/>
          <a:lstStyle/>
          <a:p>
            <a:pPr algn="just"/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17</a:t>
            </a: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 : Previsão do teste e exibição das estatísticas de previsão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464408-ADAE-B1FB-4E8E-2EEA9BD5D36B}"/>
              </a:ext>
            </a:extLst>
          </p:cNvPr>
          <p:cNvSpPr txBox="1"/>
          <p:nvPr/>
        </p:nvSpPr>
        <p:spPr>
          <a:xfrm>
            <a:off x="494522" y="1337317"/>
            <a:ext cx="152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1070AD-B462-7A97-BFC4-1828939026D2}"/>
              </a:ext>
            </a:extLst>
          </p:cNvPr>
          <p:cNvSpPr txBox="1"/>
          <p:nvPr/>
        </p:nvSpPr>
        <p:spPr>
          <a:xfrm>
            <a:off x="536439" y="4112402"/>
            <a:ext cx="152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4EBA9F0-FA26-343C-A5DC-9AC381D8E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22" y="4618387"/>
            <a:ext cx="11470438" cy="18045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2C32787-2616-C48C-860B-2F5B10892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39" y="1853700"/>
            <a:ext cx="4998385" cy="232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89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DBC8B-E1DF-D0BD-DFAC-B1C48901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E25A6-C809-0B9E-3DB2-E28999F3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82" y="410547"/>
            <a:ext cx="11075436" cy="665518"/>
          </a:xfrm>
        </p:spPr>
        <p:txBody>
          <a:bodyPr/>
          <a:lstStyle/>
          <a:p>
            <a:pPr algn="just"/>
            <a:r>
              <a:rPr lang="pt-BR" sz="2800" dirty="0">
                <a:latin typeface="Comic Sans MS" panose="030F0702030302020204" pitchFamily="66" charset="0"/>
                <a:cs typeface="Times New Roman" panose="02020603050405020304" pitchFamily="18" charset="0"/>
              </a:rPr>
              <a:t>Passo 18</a:t>
            </a:r>
            <a:r>
              <a:rPr lang="pt-BR" sz="2800" b="0" dirty="0">
                <a:latin typeface="Comic Sans MS" panose="030F0702030302020204" pitchFamily="66" charset="0"/>
                <a:cs typeface="Times New Roman" panose="02020603050405020304" pitchFamily="18" charset="0"/>
              </a:rPr>
              <a:t> : Criação de um arquivo de submissão do desafio, pré visualização dos dados e salvamento do arquivo .CSV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74EDA70-BB83-865A-7EC0-304776ADD2A9}"/>
              </a:ext>
            </a:extLst>
          </p:cNvPr>
          <p:cNvSpPr txBox="1"/>
          <p:nvPr/>
        </p:nvSpPr>
        <p:spPr>
          <a:xfrm>
            <a:off x="558282" y="1661825"/>
            <a:ext cx="1495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5A9AC6-3AB0-A72D-8E19-F21F24BE7355}"/>
              </a:ext>
            </a:extLst>
          </p:cNvPr>
          <p:cNvSpPr txBox="1"/>
          <p:nvPr/>
        </p:nvSpPr>
        <p:spPr>
          <a:xfrm>
            <a:off x="6428815" y="1661825"/>
            <a:ext cx="1495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950D8EB-7E07-AFCB-1254-6F198367D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211" y="2285583"/>
            <a:ext cx="3903877" cy="228683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B66DDF5-9F2F-56C4-AB7B-C7BF8C41A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82" y="2163337"/>
            <a:ext cx="5636918" cy="316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96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BCDC3-7AD9-644A-4CD0-2176D39E6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0" descr="Imagem aproximada de uma planta">
            <a:extLst>
              <a:ext uri="{FF2B5EF4-FFF2-40B4-BE49-F238E27FC236}">
                <a16:creationId xmlns:a16="http://schemas.microsoft.com/office/drawing/2014/main" id="{A57282B4-CFA8-ABF2-11D7-E26ADA99738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65314" y="0"/>
            <a:ext cx="12192000" cy="6880225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89D2F6C6-A80D-0203-CF65-3DE00C0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584368"/>
            <a:ext cx="4206241" cy="42203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177512777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89_TF78853419_Win32" id="{854A30D2-9E34-488C-9C98-B452D2CBAD89}" vid="{DA39436B-3821-44D5-9B65-C78155AED97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811</TotalTime>
  <Words>698</Words>
  <Application>Microsoft Office PowerPoint</Application>
  <PresentationFormat>Widescreen</PresentationFormat>
  <Paragraphs>73</Paragraphs>
  <Slides>31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Comic Sans MS</vt:lpstr>
      <vt:lpstr>Franklin Gothic Book</vt:lpstr>
      <vt:lpstr>Franklin Gothic Demi</vt:lpstr>
      <vt:lpstr>Times New Roman</vt:lpstr>
      <vt:lpstr>Personalizado</vt:lpstr>
      <vt:lpstr>Apresentação: Predicting the Beats per Minutes of Songs</vt:lpstr>
      <vt:lpstr>Agenda</vt:lpstr>
      <vt:lpstr>1.Desafio</vt:lpstr>
      <vt:lpstr>Apresentação do PowerPoint</vt:lpstr>
      <vt:lpstr>2.Base de Dados</vt:lpstr>
      <vt:lpstr>Apresentação do PowerPoint</vt:lpstr>
      <vt:lpstr>3. Explicação do código</vt:lpstr>
      <vt:lpstr>Passo 1 :  Realização da conexão entre o Google Drive e o ambiente de execução do Google Colab, por meio da importação da biblioteca drive</vt:lpstr>
      <vt:lpstr>Passo 2 :  Importação das bibliotecas numpy (cálculos numéricos e matrizes), pandas (análise e manipulação de dados) e os (interação com o sistema operacional)</vt:lpstr>
      <vt:lpstr>Passo 3 :  Carregamento e leitura dos arquivos CSV de treino e teste, exibição das dimensões de cada conjunto e visualização dos nomes das colunas do arquivo de treino.</vt:lpstr>
      <vt:lpstr>Passo 4 :  Identificação da presença de valores nulos nas colunas dos arquivos de treino e teste e exibição dos tipos de dados de cada variável no conjunto de treino.</vt:lpstr>
      <vt:lpstr>Apresentação do PowerPoint</vt:lpstr>
      <vt:lpstr>Passo 5 :  Realização da análise estatística descritiva dos conjuntos de treino e teste</vt:lpstr>
      <vt:lpstr>Apresentação do PowerPoint</vt:lpstr>
      <vt:lpstr>Passo 6 :  Importação das bibliotecas matplotlib e seaborn para a criação de um histograma para a coluna BeatsForMinute do arquivo de treino</vt:lpstr>
      <vt:lpstr>Apresentação do PowerPoint</vt:lpstr>
      <vt:lpstr>Passo 7 : Criação de novas colunas derivadas das variáveis existentes por meio da função feature_engineering, aplicação da função nos conjuntos de treino e teste, geração de novos DataFrame (train_fe e test_fe) e exibição de suas dimensões</vt:lpstr>
      <vt:lpstr>Apresentação do PowerPoint</vt:lpstr>
      <vt:lpstr>Passo 8 :  Comparação do DataFrame original (train) com o transformado (train_fe) para a identificação e quantificação de novas colunas geradas pela função feature engineering.</vt:lpstr>
      <vt:lpstr>Passo 9 :  Importação de várias bibliotecas do módulo sklearn (análise preditiva de dados e modelagem estatísticas) e da biblioteca LightGBM (classificação e regressão baseadas em árvores de decisão)</vt:lpstr>
      <vt:lpstr>Passo 10 : Separação das colunas de entrada e rótulo no conjunto de treino, remoção de colunas desnecessárias no conjunto de teste e exibição das dimensões finais dos conjuntos de treino e teste</vt:lpstr>
      <vt:lpstr>Passo 11 : Seleção das colunas numéricas do conjunto de treino e aplicação da transformação nessas colunas</vt:lpstr>
      <vt:lpstr>Passo 12 : Criação do modelo LightGBM com hiperparâmetros configurados manualmente </vt:lpstr>
      <vt:lpstr>Passo 13 :  Criação de pipelines (automação do fluxo de pré processamento dos dados e treinamento do modelo) para o processador e o modelo lgb_model </vt:lpstr>
      <vt:lpstr>Passo 14 : Avaliação do desempenho do modelo por meio de validação cruzada, realização da validação cruzada, cálculo e exibição da lista de erros obtidos em cada iteração, além da média e  do desvio padrão dos resultados</vt:lpstr>
      <vt:lpstr>Passo 15 : Treinamento do modelo com os dados de treino</vt:lpstr>
      <vt:lpstr>Passo 16 : Visualização da relevância das features, ordenação por prioridade e exibição das 15 features mais relevantes por meio de um gráfico de barras</vt:lpstr>
      <vt:lpstr>Apresentação do PowerPoint</vt:lpstr>
      <vt:lpstr>Passo 17 : Previsão do teste e exibição das estatísticas de previsão</vt:lpstr>
      <vt:lpstr>Passo 18 : Criação de um arquivo de submissão do desafio, pré visualização dos dados e salvamento do arquivo .CSV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Zanin Guidorzi Filho</dc:creator>
  <cp:lastModifiedBy>Alexandre Filho</cp:lastModifiedBy>
  <cp:revision>106</cp:revision>
  <dcterms:created xsi:type="dcterms:W3CDTF">2025-11-11T17:42:59Z</dcterms:created>
  <dcterms:modified xsi:type="dcterms:W3CDTF">2025-11-26T00:14:34Z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